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c29f0a51c54473" /><Relationship Type="http://schemas.openxmlformats.org/officeDocument/2006/relationships/extended-properties" Target="/docProps/app.xml" Id="Re0a2002700534951" /><Relationship Type="http://schemas.openxmlformats.org/officeDocument/2006/relationships/officeDocument" Target="/ppt/presentation.xml" Id="Raeb23a19256247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6f501aaa84f91"/>
  </p:sldMasterIdLst>
  <p:notesMasterIdLst>
    <p:notesMasterId xmlns:r="http://schemas.openxmlformats.org/officeDocument/2006/relationships" r:id="R9de8b64554a14a39"/>
  </p:notesMasterIdLst>
  <p:sldIdLst>
    <p:sldId xmlns:r="http://schemas.openxmlformats.org/officeDocument/2006/relationships" id="256" r:id="R82986114d5c245a3"/>
    <p:sldId xmlns:r="http://schemas.openxmlformats.org/officeDocument/2006/relationships" id="257" r:id="R10e4968db3c94c55"/>
    <p:sldId xmlns:r="http://schemas.openxmlformats.org/officeDocument/2006/relationships" id="258" r:id="Rbbccdbdb8dd448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7f726f5444de4" /><Relationship Type="http://schemas.openxmlformats.org/officeDocument/2006/relationships/slideMaster" Target="/ppt/slideMasters/slideMaster1.xml" Id="Rb466f501aaa84f91" /><Relationship Type="http://schemas.openxmlformats.org/officeDocument/2006/relationships/notesMaster" Target="/ppt/notesMasters/notesMaster1.xml" Id="R9de8b64554a14a39" /><Relationship Type="http://schemas.openxmlformats.org/officeDocument/2006/relationships/presProps" Target="/ppt/presProps.xml" Id="R34792f1c7ecc4903" /><Relationship Type="http://schemas.openxmlformats.org/officeDocument/2006/relationships/tableStyles" Target="/ppt/tableStyles.xml" Id="R72d85001bf2f4d43" /><Relationship Type="http://schemas.openxmlformats.org/officeDocument/2006/relationships/slide" Target="/ppt/slides/slide1.xml" Id="R82986114d5c245a3" /><Relationship Type="http://schemas.openxmlformats.org/officeDocument/2006/relationships/slide" Target="/ppt/slides/slide2.xml" Id="R10e4968db3c94c55" /><Relationship Type="http://schemas.openxmlformats.org/officeDocument/2006/relationships/slide" Target="/ppt/slides/slide3.xml" Id="Rbbccdbdb8dd4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64a5aa3cb7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81de243da40e6" /><Relationship Type="http://schemas.openxmlformats.org/officeDocument/2006/relationships/notesMaster" Target="/ppt/notesMasters/notesMaster1.xml" Id="R1f3b96b3f96b4b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df80a6a53463f" /><Relationship Type="http://schemas.openxmlformats.org/officeDocument/2006/relationships/notesMaster" Target="/ppt/notesMasters/notesMaster1.xml" Id="R661e0a87d87543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d3854049d0427e" /><Relationship Type="http://schemas.openxmlformats.org/officeDocument/2006/relationships/notesMaster" Target="/ppt/notesMasters/notesMaster1.xml" Id="Ref66b7642db8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第1页：整体技术架构（约40秒）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meBuddy采用数据证据驱动的多模型架构。左侧把真实比赛视频与基础、高阶派生和深度赛场数据统一关联。上方的3B数据球探学习调用工具和选择证据，AgentCore上的多模态Agent结合真实帧与这些证据组织回合解读。程序负责校验统计口径、复制可信数值，并通过FFmpeg生成永久烧录的完整MP4。底部AWS流水线承担异步处理、状态管理和独立验收，最终通过S3与CloudFront交给观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讲解抓住分工：数据球探选证据，视觉Agent解释画面，确定性程序保证显示事实与视频交付。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范围：整体能力图包含两条分别验收的路径。自动RL样片实际调用训练后的3B并进入Agent叙事和烧录；正式55秒作品采用编辑视觉和AgentCore稿件审核。图中的战术注释为编辑示意。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依据：docs/RL产品端到端联调验收-20261010.md；docs/正式55秒豆包双人解说与主页发布-20261010.md；product/app.js。图像来源：docs/ppt-materials/20261011/figures/06-gamebuddy-paper-pipeline-v6-branded.png。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第2页：Agentic RL与三层数据融合（约50秒）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我们把基础数据、高阶派生数据和深度赛场数据组织为一套多维度篮球证据模型，统一球员、比赛、事件、单位、统计范围与来源。它既生成模型的训练任务，也支撑Agent取证和最终展示。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我们以Qwen2.5-3B为数据球探，先做QLoRA监督微调，再进行Agentic RL，让模型在工具环境里选择查询、证据ID和受控关系。模型选证据，程序依据原始记录取得数字，并进行语义核验及有限纠错。这样形成可追溯的解读。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产品实测中，两段注册样片的三种关注方向共6个组合最终通过，其中5次直接通过、1次纠错后通过。弗拉格任务一次真实取证耗时2.841秒，三层证据进入Agent叙事并烧录到完整MP4。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径：这里展示训练设计和系统落地效果。6/6是已知素材上的模型与程序护栏组合验收，2.841秒为一次任务的取证耗时。未把这些值当作RL相对SFT增益或新比赛泛化准确率。高阶指标为确定性派生，赛季引力为背景，单次xFG另外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依据：product/rl/data/evidence/store.json；docs/RL三层联合训练结果-20261010.md；docs/RL服务交付-20261010.md；docs/RL产品端到端联调验收-20261010.md。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第3页：AWS服务协同与工程规范（约50秒）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用AWS把模型能力组织为真实生成和交付链路。AgentCore和Bedrock承担Agent托管及多模态推理，SageMaker承担数据球探训练和端点服务。Lambda与SQS处理长任务，DynamoDB保存阶段和预算。S3保存证据与完整成片，CloudFront向观众提供网页和媒体。成片持久化后，EventBridge触发Step Functions独立验收。CloudWatch记录运行状态并配置6项失败或积压告警。Polly与Rekognition提供可选语音和场景辅助能力。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规范体现为具体做法：CDK与CloudFormation管理主链基础设施，IAM工作负载角色遵循赛事权限边界，部署前用STS核验身份；私有S3通过CloudFront OAC交付；队列具备重试和死信机制，Worker单并发控制资源与推理预算；生成完成与交付验收分别保存，可选派生失败保留主成片。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计口径：13项业务能力，AgentCore与Bedrock分计。CDK为工具，CloudFormation、IAM、STS作为工程支撑另列。Polly和Rekognition为已实测可选辅助，并不意味着正式55秒作品逐一调用所有服务。正式双人TTS使用外部服务。SageMaker训练与端点另有SDK脚本。以上描述比赛期间的实际实现，不宣称外部AWS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项目依据：product/app.js；docs/AWS托管交付闭环-20261010.md；docs/提交前代码与AWS质量核对-20261010.md。</a:t>
            </a:r>
          </a:p>
          <a:p xmlns:a="http://schemas.openxmlformats.org/drawingml/2006/main">
            <a:r>
              <a:t>官方图标与Logo来源：https://aws.amazon.com/architecture/icons/ （2026-07-31图标包）；https://a0.awsstatic.com/libra-css/images/logos/aws_logo_smile_179x109.png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ba29220904a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7638f6c8041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7df1d0f4447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61a16608447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81cfd9cc34f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f2e1c7471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49679D-606F-45F0-A817-5E738A090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A04EFA-DBE0-4BF6-ADC7-9C8B036CBE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60B731-C706-4A22-93F8-15F3EF3D9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E148C1-7E30-4997-8C57-E4E5740B4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9E7EE2-FF50-4BEA-A0F8-0BD7D01F4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73EFF7-BBA9-41A6-8B0C-C41D16759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8B4DEB-A137-4970-9B82-E49C6AFFAF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40A7BB-3F17-47D4-A5AD-069997A5A4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C4770F-C9E7-497A-B5A7-0CF6A7EDD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E9FA7E-7B92-4537-810A-8E3DCE4A0A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af418c83ad4f64" /><Relationship Type="http://schemas.openxmlformats.org/officeDocument/2006/relationships/slideLayout" Target="/ppt/slideLayouts/slideLayout1.xml" Id="Re48a2da62d314e55" /><Relationship Type="http://schemas.openxmlformats.org/officeDocument/2006/relationships/slideLayout" Target="/ppt/slideLayouts/slideLayout2.xml" Id="R655069db46bc476e" /><Relationship Type="http://schemas.openxmlformats.org/officeDocument/2006/relationships/slideLayout" Target="/ppt/slideLayouts/slideLayout3.xml" Id="Rdebde6cc5ef34e58" /><Relationship Type="http://schemas.openxmlformats.org/officeDocument/2006/relationships/slideLayout" Target="/ppt/slideLayouts/slideLayout4.xml" Id="Rf8acd930db50441b" /><Relationship Type="http://schemas.openxmlformats.org/officeDocument/2006/relationships/slideLayout" Target="/ppt/slideLayouts/slideLayout5.xml" Id="Rf68adbe35fa74d88" /><Relationship Type="http://schemas.openxmlformats.org/officeDocument/2006/relationships/slideLayout" Target="/ppt/slideLayouts/slideLayout6.xml" Id="Ra4add684e65f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8a2da62d314e55"/>
    <p:sldLayoutId xmlns:r="http://schemas.openxmlformats.org/officeDocument/2006/relationships" id="2147483650" r:id="R655069db46bc476e"/>
    <p:sldLayoutId xmlns:r="http://schemas.openxmlformats.org/officeDocument/2006/relationships" id="2147483651" r:id="Rdebde6cc5ef34e58"/>
    <p:sldLayoutId xmlns:r="http://schemas.openxmlformats.org/officeDocument/2006/relationships" id="2147483652" r:id="Rf8acd930db50441b"/>
    <p:sldLayoutId xmlns:r="http://schemas.openxmlformats.org/officeDocument/2006/relationships" id="2147483653" r:id="Rf68adbe35fa74d88"/>
    <p:sldLayoutId xmlns:r="http://schemas.openxmlformats.org/officeDocument/2006/relationships" id="2147483654" r:id="Ra4add684e65f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c53b7355446ab" /><Relationship Type="http://schemas.openxmlformats.org/officeDocument/2006/relationships/image" Target="/ppt/media/image.png" Id="Rf302a65d543147b5" /><Relationship Type="http://schemas.openxmlformats.org/officeDocument/2006/relationships/notesSlide" Target="/ppt/notesSlides/notesSlide1.xml" Id="R7e5eb927f01f4d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a6af252994aab" /><Relationship Type="http://schemas.openxmlformats.org/officeDocument/2006/relationships/notesSlide" Target="/ppt/notesSlides/notesSlide2.xml" Id="Rab3fb8a57d48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f77a92a904a35" /><Relationship Type="http://schemas.openxmlformats.org/officeDocument/2006/relationships/image" Target="/ppt/media/image2.png" Id="Rf22986c295ca4738" /><Relationship Type="http://schemas.openxmlformats.org/officeDocument/2006/relationships/image" Target="/ppt/media/image3.png" Id="R2fb6906101a743f2" /><Relationship Type="http://schemas.openxmlformats.org/officeDocument/2006/relationships/image" Target="/ppt/media/image4.png" Id="R28207826dd4b47be" /><Relationship Type="http://schemas.openxmlformats.org/officeDocument/2006/relationships/image" Target="/ppt/media/image5.png" Id="R5d4222f527ce40d0" /><Relationship Type="http://schemas.openxmlformats.org/officeDocument/2006/relationships/image" Target="/ppt/media/image6.png" Id="R49717f085bc04357" /><Relationship Type="http://schemas.openxmlformats.org/officeDocument/2006/relationships/image" Target="/ppt/media/image7.png" Id="R78130bc8aa5f4655" /><Relationship Type="http://schemas.openxmlformats.org/officeDocument/2006/relationships/image" Target="/ppt/media/image8.png" Id="R64cd4ffdef064efd" /><Relationship Type="http://schemas.openxmlformats.org/officeDocument/2006/relationships/image" Target="/ppt/media/image9.png" Id="R1ab8007f9955447f" /><Relationship Type="http://schemas.openxmlformats.org/officeDocument/2006/relationships/image" Target="/ppt/media/image10.png" Id="Rc10a832753404e15" /><Relationship Type="http://schemas.openxmlformats.org/officeDocument/2006/relationships/image" Target="/ppt/media/image11.png" Id="R876d958b6c2b4511" /><Relationship Type="http://schemas.openxmlformats.org/officeDocument/2006/relationships/image" Target="/ppt/media/image12.png" Id="Rba68e1e31c1b4415" /><Relationship Type="http://schemas.openxmlformats.org/officeDocument/2006/relationships/image" Target="/ppt/media/image13.png" Id="Rf5b0ba51ef664441" /><Relationship Type="http://schemas.openxmlformats.org/officeDocument/2006/relationships/image" Target="/ppt/media/image14.png" Id="R81a1771624bc4267" /><Relationship Type="http://schemas.openxmlformats.org/officeDocument/2006/relationships/image" Target="/ppt/media/image15.png" Id="R4ee304f37ed54865" /><Relationship Type="http://schemas.openxmlformats.org/officeDocument/2006/relationships/image" Target="/ppt/media/image16.png" Id="R3f9c7a6983844d90" /><Relationship Type="http://schemas.openxmlformats.org/officeDocument/2006/relationships/image" Target="/ppt/media/image17.png" Id="R814d66faab5e4b67" /><Relationship Type="http://schemas.openxmlformats.org/officeDocument/2006/relationships/image" Target="/ppt/media/image18.png" Id="Ra3fca248c9004810" /><Relationship Type="http://schemas.openxmlformats.org/officeDocument/2006/relationships/image" Target="/ppt/media/image19.png" Id="Rf786ffdf18d1422b" /><Relationship Type="http://schemas.openxmlformats.org/officeDocument/2006/relationships/notesSlide" Target="/ppt/notesSlides/notesSlide3.xml" Id="R2e9eff5f2d4e48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178D4-81ED-42C5-A288-CC2201389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2a65d543147b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25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1A3BE783-52DC-4E22-B6AF-EAB85490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1353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3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Agentic RL 与三层数据融合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FE98ED-AF30-49EB-B942-AF53663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35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9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1,993 条真实证据统一关联 33 位球员、4 场比赛及赛季背景</a:t>
            </a:r>
          </a:p>
        </p:txBody>
      </p:sp>
      <p:sp>
        <p:nvSpPr>
          <p:cNvPr id="3" name="dim-0">
            <a:extLst xmlns:a="http://schemas.openxmlformats.org/drawingml/2006/main">
              <a:ext uri="{FF2B5EF4-FFF2-40B4-BE49-F238E27FC236}">
                <a16:creationId xmlns:a16="http://schemas.microsoft.com/office/drawing/2014/main" id="{22CD8720-CAA4-4778-921A-40E0946D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5DCC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65DCC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250" b="1">
                <a:solidFill>
                  <a:srgbClr val="165DCC"/>
                </a:solidFill>
                <a:latin typeface="Source Han Serif SC"/>
                <a:ea typeface="Source Han Serif SC"/>
                <a:cs typeface="Source Han Serif SC"/>
              </a:rPr>
              <a:t>基础数据</a:t>
            </a:r>
          </a:p>
        </p:txBody>
      </p:sp>
      <p:sp>
        <p:nvSpPr>
          <p:cNvPr id="4" name="count-0">
            <a:extLst xmlns:a="http://schemas.openxmlformats.org/drawingml/2006/main">
              <a:ext uri="{FF2B5EF4-FFF2-40B4-BE49-F238E27FC236}">
                <a16:creationId xmlns:a16="http://schemas.microsoft.com/office/drawing/2014/main" id="{C294AF64-3097-46EF-B48D-E7A265EF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57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1,513 条</a:t>
            </a:r>
          </a:p>
        </p:txBody>
      </p:sp>
      <p:sp>
        <p:nvSpPr>
          <p:cNvPr id="5" name="desc-0">
            <a:extLst xmlns:a="http://schemas.openxmlformats.org/drawingml/2006/main">
              <a:ext uri="{FF2B5EF4-FFF2-40B4-BE49-F238E27FC236}">
                <a16:creationId xmlns:a16="http://schemas.microsoft.com/office/drawing/2014/main" id="{3D10AB2D-6608-40B2-9E75-480FE3C7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193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得分、篮板、助攻、投篮计数</a:t>
            </a:r>
          </a:p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官方比赛事实与事件</a:t>
            </a:r>
          </a:p>
        </p:txBody>
      </p:sp>
      <p:sp>
        <p:nvSpPr>
          <p:cNvPr id="6" name="dim-1">
            <a:extLst xmlns:a="http://schemas.openxmlformats.org/drawingml/2006/main">
              <a:ext uri="{FF2B5EF4-FFF2-40B4-BE49-F238E27FC236}">
                <a16:creationId xmlns:a16="http://schemas.microsoft.com/office/drawing/2014/main" id="{928FBF34-64C0-44F8-BD66-701844DE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140B9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140B9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250" b="1">
                <a:solidFill>
                  <a:srgbClr val="7140B9"/>
                </a:solidFill>
                <a:latin typeface="Source Han Serif SC"/>
                <a:ea typeface="Source Han Serif SC"/>
                <a:cs typeface="Source Han Serif SC"/>
              </a:rPr>
              <a:t>高阶派生</a:t>
            </a:r>
          </a:p>
        </p:txBody>
      </p:sp>
      <p:sp>
        <p:nvSpPr>
          <p:cNvPr id="7" name="count-1">
            <a:extLst xmlns:a="http://schemas.openxmlformats.org/drawingml/2006/main">
              <a:ext uri="{FF2B5EF4-FFF2-40B4-BE49-F238E27FC236}">
                <a16:creationId xmlns:a16="http://schemas.microsoft.com/office/drawing/2014/main" id="{156EF4C2-700F-46E2-B001-4012C54D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166 条</a:t>
            </a:r>
          </a:p>
        </p:txBody>
      </p:sp>
      <p:sp>
        <p:nvSpPr>
          <p:cNvPr id="8" name="desc-1">
            <a:extLst xmlns:a="http://schemas.openxmlformats.org/drawingml/2006/main">
              <a:ext uri="{FF2B5EF4-FFF2-40B4-BE49-F238E27FC236}">
                <a16:creationId xmlns:a16="http://schemas.microsoft.com/office/drawing/2014/main" id="{6F332473-19E2-43B9-B1CD-99DE83E8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193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eFG、TS 等效率指标</a:t>
            </a:r>
          </a:p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保留官方操作数与计算公式</a:t>
            </a:r>
          </a:p>
        </p:txBody>
      </p:sp>
      <p:sp>
        <p:nvSpPr>
          <p:cNvPr id="9" name="dim-2">
            <a:extLst xmlns:a="http://schemas.openxmlformats.org/drawingml/2006/main">
              <a:ext uri="{FF2B5EF4-FFF2-40B4-BE49-F238E27FC236}">
                <a16:creationId xmlns:a16="http://schemas.microsoft.com/office/drawing/2014/main" id="{C49D46F3-BC2D-4A32-B77C-0F961C2A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57A22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57A2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250" b="1">
                <a:solidFill>
                  <a:srgbClr val="E57A22"/>
                </a:solidFill>
                <a:latin typeface="Source Han Serif SC"/>
                <a:ea typeface="Source Han Serif SC"/>
                <a:cs typeface="Source Han Serif SC"/>
              </a:rPr>
              <a:t>深度赛场</a:t>
            </a:r>
          </a:p>
        </p:txBody>
      </p:sp>
      <p:sp>
        <p:nvSpPr>
          <p:cNvPr id="10" name="count-2">
            <a:extLst xmlns:a="http://schemas.openxmlformats.org/drawingml/2006/main">
              <a:ext uri="{FF2B5EF4-FFF2-40B4-BE49-F238E27FC236}">
                <a16:creationId xmlns:a16="http://schemas.microsoft.com/office/drawing/2014/main" id="{9C7F5AC6-8C98-4BCD-AA67-2ECE49B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57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314 条</a:t>
            </a:r>
          </a:p>
        </p:txBody>
      </p:sp>
      <p:sp>
        <p:nvSpPr>
          <p:cNvPr id="11" name="desc-2">
            <a:extLst xmlns:a="http://schemas.openxmlformats.org/drawingml/2006/main">
              <a:ext uri="{FF2B5EF4-FFF2-40B4-BE49-F238E27FC236}">
                <a16:creationId xmlns:a16="http://schemas.microsoft.com/office/drawing/2014/main" id="{40FE8EB2-A53F-46B0-A817-02ECC1BF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Gravity、Leverage</a:t>
            </a:r>
          </a:p>
          <a:p xmlns:a="http://schemas.openxmlformats.org/drawingml/2006/main">
            <a:pPr algn="l">
              <a:def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725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Shot Difficulty 与角色背景</a:t>
            </a:r>
          </a:p>
        </p:txBody>
      </p:sp>
      <p:sp>
        <p:nvSpPr>
          <p:cNvPr id="12" name="schema">
            <a:extLst xmlns:a="http://schemas.openxmlformats.org/drawingml/2006/main">
              <a:ext uri="{FF2B5EF4-FFF2-40B4-BE49-F238E27FC236}">
                <a16:creationId xmlns:a16="http://schemas.microsoft.com/office/drawing/2014/main" id="{8E3B576D-76CC-416A-A3E8-4FE40B89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9475"/>
            <a:ext cx="1135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统一证据模型：球员、比赛、事件、指标、单位、统计粒度、来源</a:t>
            </a:r>
          </a:p>
        </p:txBody>
      </p:sp>
      <p:sp>
        <p:nvSpPr>
          <p:cNvPr id="13" name="model-head">
            <a:extLst xmlns:a="http://schemas.openxmlformats.org/drawingml/2006/main">
              <a:ext uri="{FF2B5EF4-FFF2-40B4-BE49-F238E27FC236}">
                <a16:creationId xmlns:a16="http://schemas.microsoft.com/office/drawing/2014/main" id="{3CC61B31-0426-40B2-A5A5-4E5B3359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052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2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Qwen2.5-3B 数据球探</a:t>
            </a:r>
          </a:p>
        </p:txBody>
      </p:sp>
      <p:sp>
        <p:nvSpPr>
          <p:cNvPr id="14" name="method">
            <a:extLst xmlns:a="http://schemas.openxmlformats.org/drawingml/2006/main">
              <a:ext uri="{FF2B5EF4-FFF2-40B4-BE49-F238E27FC236}">
                <a16:creationId xmlns:a16="http://schemas.microsoft.com/office/drawing/2014/main" id="{3C5B7A12-04F4-4C5A-A723-24587F73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01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140B9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7140B9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950" b="1">
                <a:solidFill>
                  <a:srgbClr val="7140B9"/>
                </a:solidFill>
                <a:latin typeface="Source Han Serif SC"/>
                <a:ea typeface="Source Han Serif SC"/>
                <a:cs typeface="Source Han Serif SC"/>
              </a:rPr>
              <a:t>QLoRA 监督微调 + Agentic RL</a:t>
            </a:r>
          </a:p>
        </p:txBody>
      </p:sp>
      <p:sp>
        <p:nvSpPr>
          <p:cNvPr id="15" name="method-body">
            <a:extLst xmlns:a="http://schemas.openxmlformats.org/drawingml/2006/main">
              <a:ext uri="{FF2B5EF4-FFF2-40B4-BE49-F238E27FC236}">
                <a16:creationId xmlns:a16="http://schemas.microsoft.com/office/drawing/2014/main" id="{D1145811-1384-4C26-9E67-4565CBDA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05400"/>
            <a:ext cx="609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工具动作与奖励反馈训练证据选择</a:t>
            </a:r>
          </a:p>
          <a:p xmlns:a="http://schemas.openxmlformats.org/drawingml/2006/main">
            <a:pPr algn="l">
              <a:def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返回短证据 ID 与受控关系</a:t>
            </a:r>
          </a:p>
          <a:p xmlns:a="http://schemas.openxmlformats.org/drawingml/2006/main">
            <a:pPr algn="l">
              <a:def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0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语义校验后，从可信来源读取数值</a:t>
            </a:r>
          </a:p>
        </p:txBody>
      </p:sp>
      <p:sp>
        <p:nvSpPr>
          <p:cNvPr id="16" name="proof-head">
            <a:extLst xmlns:a="http://schemas.openxmlformats.org/drawingml/2006/main">
              <a:ext uri="{FF2B5EF4-FFF2-40B4-BE49-F238E27FC236}">
                <a16:creationId xmlns:a16="http://schemas.microsoft.com/office/drawing/2014/main" id="{782F7FF5-7F1C-4F04-8275-5F7CAB65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052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2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已验证的产品效果</a:t>
            </a:r>
          </a:p>
        </p:txBody>
      </p:sp>
      <p:sp>
        <p:nvSpPr>
          <p:cNvPr id="17" name="proof-combos">
            <a:extLst xmlns:a="http://schemas.openxmlformats.org/drawingml/2006/main">
              <a:ext uri="{FF2B5EF4-FFF2-40B4-BE49-F238E27FC236}">
                <a16:creationId xmlns:a16="http://schemas.microsoft.com/office/drawing/2014/main" id="{9EC47E0F-F755-40A7-BF5C-841F39DC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57A22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E57A22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75" b="1">
                <a:solidFill>
                  <a:srgbClr val="E57A22"/>
                </a:solidFill>
                <a:latin typeface="Source Han Serif SC"/>
                <a:ea typeface="Source Han Serif SC"/>
                <a:cs typeface="Source Han Serif SC"/>
              </a:rPr>
              <a:t>6/6 个已知取证组合通过</a:t>
            </a:r>
          </a:p>
        </p:txBody>
      </p:sp>
      <p:sp>
        <p:nvSpPr>
          <p:cNvPr id="18" name="proof-combos-scope">
            <a:extLst xmlns:a="http://schemas.openxmlformats.org/drawingml/2006/main">
              <a:ext uri="{FF2B5EF4-FFF2-40B4-BE49-F238E27FC236}">
                <a16:creationId xmlns:a16="http://schemas.microsoft.com/office/drawing/2014/main" id="{FF8A7207-A2AE-476D-A0B8-1F0EA7C8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两样片 × 三方向，含 1 次纠错</a:t>
            </a:r>
          </a:p>
        </p:txBody>
      </p:sp>
      <p:sp>
        <p:nvSpPr>
          <p:cNvPr id="19" name="proof-latency">
            <a:extLst xmlns:a="http://schemas.openxmlformats.org/drawingml/2006/main">
              <a:ext uri="{FF2B5EF4-FFF2-40B4-BE49-F238E27FC236}">
                <a16:creationId xmlns:a16="http://schemas.microsoft.com/office/drawing/2014/main" id="{58A4CFEA-07DE-4765-9C44-6471A33E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673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5DCC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5DCC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75" b="1">
                <a:solidFill>
                  <a:srgbClr val="165DCC"/>
                </a:solidFill>
                <a:latin typeface="Source Han Serif SC"/>
                <a:ea typeface="Source Han Serif SC"/>
                <a:cs typeface="Source Han Serif SC"/>
              </a:rPr>
              <a:t>一次真实取证耗时 2.841 秒</a:t>
            </a:r>
          </a:p>
        </p:txBody>
      </p:sp>
      <p:sp>
        <p:nvSpPr>
          <p:cNvPr id="20" name="proof-delivery">
            <a:extLst xmlns:a="http://schemas.openxmlformats.org/drawingml/2006/main">
              <a:ext uri="{FF2B5EF4-FFF2-40B4-BE49-F238E27FC236}">
                <a16:creationId xmlns:a16="http://schemas.microsoft.com/office/drawing/2014/main" id="{02B4F0FD-4A01-4339-ACD1-FB68CA87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三层证据进入 Agent 叙事与完整 MP4</a:t>
            </a:r>
          </a:p>
        </p:txBody>
      </p:sp>
    </p:spTree>
    <p:extLst>
      <p:ext uri="{BB962C8B-B14F-4D97-AF65-F5344CB8AC3E}">
        <p14:creationId xmlns:p14="http://schemas.microsoft.com/office/powerpoint/2010/main" val="1598227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">
            <a:extLst xmlns:a="http://schemas.openxmlformats.org/drawingml/2006/main">
              <a:ext uri="{FF2B5EF4-FFF2-40B4-BE49-F238E27FC236}">
                <a16:creationId xmlns:a16="http://schemas.microsoft.com/office/drawing/2014/main" id="{66932B3A-191B-4794-B569-BE60895C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3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AWS 服务协同与工程规范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9F570-EA7C-4ED1-ADD0-D8CF9D0F7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986c295ca4738"/>
          <a:stretch xmlns:a="http://schemas.openxmlformats.org/drawingml/2006/main"/>
        </p:blipFill>
        <p:spPr>
          <a:xfrm xmlns:a="http://schemas.openxmlformats.org/drawingml/2006/main">
            <a:off x="10668000" y="190766"/>
            <a:ext cx="1219200" cy="742418"/>
          </a:xfrm>
          <a:prstGeom xmlns:a="http://schemas.openxmlformats.org/drawingml/2006/main" prst="rect">
            <a:avLst/>
          </a:prstGeom>
        </p:spPr>
      </p:pic>
      <p:sp>
        <p:nvSpPr>
          <p:cNvPr id="3" name="catalog-head">
            <a:extLst xmlns:a="http://schemas.openxmlformats.org/drawingml/2006/main">
              <a:ext uri="{FF2B5EF4-FFF2-40B4-BE49-F238E27FC236}">
                <a16:creationId xmlns:a16="http://schemas.microsoft.com/office/drawing/2014/main" id="{2D2606CA-D150-4403-9699-6EE9357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13 项业务服务</a:t>
            </a:r>
          </a:p>
        </p:txBody>
      </p:sp>
      <p:sp>
        <p:nvSpPr>
          <p:cNvPr id="4" name="standard-head">
            <a:extLst xmlns:a="http://schemas.openxmlformats.org/drawingml/2006/main">
              <a:ext uri="{FF2B5EF4-FFF2-40B4-BE49-F238E27FC236}">
                <a16:creationId xmlns:a16="http://schemas.microsoft.com/office/drawing/2014/main" id="{A3BB4BFE-08D9-47C3-8DFE-63CF01B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10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工程规范落地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58A82-5EE4-43F1-A2F2-689228F3A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6906101a743f2"/>
          <a:stretch xmlns:a="http://schemas.openxmlformats.org/drawingml/2006/main"/>
        </p:blipFill>
        <p:spPr>
          <a:xfrm xmlns:a="http://schemas.openxmlformats.org/drawingml/2006/main">
            <a:off x="885825" y="1619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" name="service-agentcore">
            <a:extLst xmlns:a="http://schemas.openxmlformats.org/drawingml/2006/main">
              <a:ext uri="{FF2B5EF4-FFF2-40B4-BE49-F238E27FC236}">
                <a16:creationId xmlns:a16="http://schemas.microsoft.com/office/drawing/2014/main" id="{24812357-FCEC-4B6A-A8E7-DE968379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336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AgentCore</a:t>
            </a:r>
          </a:p>
        </p:txBody>
      </p:sp>
      <p:sp>
        <p:nvSpPr>
          <p:cNvPr id="7" name="role-agentcore">
            <a:extLst xmlns:a="http://schemas.openxmlformats.org/drawingml/2006/main">
              <a:ext uri="{FF2B5EF4-FFF2-40B4-BE49-F238E27FC236}">
                <a16:creationId xmlns:a16="http://schemas.microsoft.com/office/drawing/2014/main" id="{21A30031-7EC3-44CE-9E69-DE8FAB2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Agent 托管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E0303-3EB6-4883-A236-EABBB12BA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07826dd4b47be"/>
          <a:stretch xmlns:a="http://schemas.openxmlformats.org/drawingml/2006/main"/>
        </p:blipFill>
        <p:spPr>
          <a:xfrm xmlns:a="http://schemas.openxmlformats.org/drawingml/2006/main">
            <a:off x="2447925" y="1619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service-bedrock">
            <a:extLst xmlns:a="http://schemas.openxmlformats.org/drawingml/2006/main">
              <a:ext uri="{FF2B5EF4-FFF2-40B4-BE49-F238E27FC236}">
                <a16:creationId xmlns:a16="http://schemas.microsoft.com/office/drawing/2014/main" id="{916D92E2-055A-4E0B-B072-6ACBD50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336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Bedrock</a:t>
            </a:r>
          </a:p>
        </p:txBody>
      </p:sp>
      <p:sp>
        <p:nvSpPr>
          <p:cNvPr id="10" name="role-bedrock">
            <a:extLst xmlns:a="http://schemas.openxmlformats.org/drawingml/2006/main">
              <a:ext uri="{FF2B5EF4-FFF2-40B4-BE49-F238E27FC236}">
                <a16:creationId xmlns:a16="http://schemas.microsoft.com/office/drawing/2014/main" id="{25FE6592-C646-4517-9A40-6F6DC02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670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多模态推理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30862-D304-451F-866B-67940EADD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222f527ce40d0"/>
          <a:stretch xmlns:a="http://schemas.openxmlformats.org/drawingml/2006/main"/>
        </p:blipFill>
        <p:spPr>
          <a:xfrm xmlns:a="http://schemas.openxmlformats.org/drawingml/2006/main">
            <a:off x="4010025" y="1619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service-sagemaker">
            <a:extLst xmlns:a="http://schemas.openxmlformats.org/drawingml/2006/main">
              <a:ext uri="{FF2B5EF4-FFF2-40B4-BE49-F238E27FC236}">
                <a16:creationId xmlns:a16="http://schemas.microsoft.com/office/drawing/2014/main" id="{9EAA5DBC-9BBF-4E19-BEBF-317B386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SageMaker AI</a:t>
            </a:r>
          </a:p>
        </p:txBody>
      </p:sp>
      <p:sp>
        <p:nvSpPr>
          <p:cNvPr id="13" name="role-sagemaker">
            <a:extLst xmlns:a="http://schemas.openxmlformats.org/drawingml/2006/main">
              <a:ext uri="{FF2B5EF4-FFF2-40B4-BE49-F238E27FC236}">
                <a16:creationId xmlns:a16="http://schemas.microsoft.com/office/drawing/2014/main" id="{FB29C548-7602-4F8E-B26B-9DA6E4A4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训练与端点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BE6AC-6473-4A60-8629-55B29498E7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17f085bc04357"/>
          <a:stretch xmlns:a="http://schemas.openxmlformats.org/drawingml/2006/main"/>
        </p:blipFill>
        <p:spPr>
          <a:xfrm xmlns:a="http://schemas.openxmlformats.org/drawingml/2006/main">
            <a:off x="5572125" y="1619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5" name="service-lambda">
            <a:extLst xmlns:a="http://schemas.openxmlformats.org/drawingml/2006/main">
              <a:ext uri="{FF2B5EF4-FFF2-40B4-BE49-F238E27FC236}">
                <a16:creationId xmlns:a16="http://schemas.microsoft.com/office/drawing/2014/main" id="{61A6A4DF-B6CE-4A84-B82F-BDE45E2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Lambda</a:t>
            </a:r>
          </a:p>
        </p:txBody>
      </p:sp>
      <p:sp>
        <p:nvSpPr>
          <p:cNvPr id="16" name="role-lambda">
            <a:extLst xmlns:a="http://schemas.openxmlformats.org/drawingml/2006/main">
              <a:ext uri="{FF2B5EF4-FFF2-40B4-BE49-F238E27FC236}">
                <a16:creationId xmlns:a16="http://schemas.microsoft.com/office/drawing/2014/main" id="{A7B51B73-63B7-413C-80C9-7DC30962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API 与渲染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9B023-B757-4D35-BDB8-F091AE104F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30bc8aa5f4655"/>
          <a:stretch xmlns:a="http://schemas.openxmlformats.org/drawingml/2006/main"/>
        </p:blipFill>
        <p:spPr>
          <a:xfrm xmlns:a="http://schemas.openxmlformats.org/drawingml/2006/main">
            <a:off x="7134225" y="16192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8" name="service-sqs">
            <a:extLst xmlns:a="http://schemas.openxmlformats.org/drawingml/2006/main">
              <a:ext uri="{FF2B5EF4-FFF2-40B4-BE49-F238E27FC236}">
                <a16:creationId xmlns:a16="http://schemas.microsoft.com/office/drawing/2014/main" id="{F54D0CA4-73C5-4A47-B583-9301DC0F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SQS</a:t>
            </a:r>
          </a:p>
        </p:txBody>
      </p:sp>
      <p:sp>
        <p:nvSpPr>
          <p:cNvPr id="19" name="role-sqs">
            <a:extLst xmlns:a="http://schemas.openxmlformats.org/drawingml/2006/main">
              <a:ext uri="{FF2B5EF4-FFF2-40B4-BE49-F238E27FC236}">
                <a16:creationId xmlns:a16="http://schemas.microsoft.com/office/drawing/2014/main" id="{70B0AECF-46BD-4FDC-8359-6A86AFC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异步队列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E8652-0B0F-4AEF-907D-4C96AD017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d4ffdef064efd"/>
          <a:stretch xmlns:a="http://schemas.openxmlformats.org/drawingml/2006/main"/>
        </p:blipFill>
        <p:spPr>
          <a:xfrm xmlns:a="http://schemas.openxmlformats.org/drawingml/2006/main">
            <a:off x="885825" y="3048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1" name="service-dynamodb">
            <a:extLst xmlns:a="http://schemas.openxmlformats.org/drawingml/2006/main">
              <a:ext uri="{FF2B5EF4-FFF2-40B4-BE49-F238E27FC236}">
                <a16:creationId xmlns:a16="http://schemas.microsoft.com/office/drawing/2014/main" id="{54804BE5-12FB-45E1-9563-7284560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623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DynamoDB</a:t>
            </a:r>
          </a:p>
        </p:txBody>
      </p:sp>
      <p:sp>
        <p:nvSpPr>
          <p:cNvPr id="22" name="role-dynamodb">
            <a:extLst xmlns:a="http://schemas.openxmlformats.org/drawingml/2006/main">
              <a:ext uri="{FF2B5EF4-FFF2-40B4-BE49-F238E27FC236}">
                <a16:creationId xmlns:a16="http://schemas.microsoft.com/office/drawing/2014/main" id="{AB1EE044-5752-4A32-896D-98520722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任务状态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18118-7D01-4837-BEE1-8F260F0C76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8007f9955447f"/>
          <a:stretch xmlns:a="http://schemas.openxmlformats.org/drawingml/2006/main"/>
        </p:blipFill>
        <p:spPr>
          <a:xfrm xmlns:a="http://schemas.openxmlformats.org/drawingml/2006/main">
            <a:off x="2447925" y="3048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4" name="service-s3">
            <a:extLst xmlns:a="http://schemas.openxmlformats.org/drawingml/2006/main">
              <a:ext uri="{FF2B5EF4-FFF2-40B4-BE49-F238E27FC236}">
                <a16:creationId xmlns:a16="http://schemas.microsoft.com/office/drawing/2014/main" id="{0894AAA9-FA75-4A1F-8AD4-A6EFA88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623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S3</a:t>
            </a:r>
          </a:p>
        </p:txBody>
      </p:sp>
      <p:sp>
        <p:nvSpPr>
          <p:cNvPr id="25" name="role-s3">
            <a:extLst xmlns:a="http://schemas.openxmlformats.org/drawingml/2006/main">
              <a:ext uri="{FF2B5EF4-FFF2-40B4-BE49-F238E27FC236}">
                <a16:creationId xmlns:a16="http://schemas.microsoft.com/office/drawing/2014/main" id="{38E64C8E-1776-4519-A003-DDA85A8E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95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证据与成片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3E8E7-B529-4CF4-8E7A-73FD4A6BC5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a832753404e15"/>
          <a:stretch xmlns:a="http://schemas.openxmlformats.org/drawingml/2006/main"/>
        </p:blipFill>
        <p:spPr>
          <a:xfrm xmlns:a="http://schemas.openxmlformats.org/drawingml/2006/main">
            <a:off x="4010025" y="3048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7" name="service-cloudfront">
            <a:extLst xmlns:a="http://schemas.openxmlformats.org/drawingml/2006/main">
              <a:ext uri="{FF2B5EF4-FFF2-40B4-BE49-F238E27FC236}">
                <a16:creationId xmlns:a16="http://schemas.microsoft.com/office/drawing/2014/main" id="{0A77429F-3C7F-4A3A-9F7E-9F4E5A03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23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CloudFront</a:t>
            </a:r>
          </a:p>
        </p:txBody>
      </p:sp>
      <p:sp>
        <p:nvSpPr>
          <p:cNvPr id="28" name="role-cloudfront">
            <a:extLst xmlns:a="http://schemas.openxmlformats.org/drawingml/2006/main">
              <a:ext uri="{FF2B5EF4-FFF2-40B4-BE49-F238E27FC236}">
                <a16:creationId xmlns:a16="http://schemas.microsoft.com/office/drawing/2014/main" id="{8C8736A3-7AF5-4030-8F86-C0B9472C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网页与媒体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9F9F26-9F12-4884-A908-CF7C6FDB3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d958b6c2b4511"/>
          <a:stretch xmlns:a="http://schemas.openxmlformats.org/drawingml/2006/main"/>
        </p:blipFill>
        <p:spPr>
          <a:xfrm xmlns:a="http://schemas.openxmlformats.org/drawingml/2006/main">
            <a:off x="5572125" y="3048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0" name="service-eventbridge">
            <a:extLst xmlns:a="http://schemas.openxmlformats.org/drawingml/2006/main">
              <a:ext uri="{FF2B5EF4-FFF2-40B4-BE49-F238E27FC236}">
                <a16:creationId xmlns:a16="http://schemas.microsoft.com/office/drawing/2014/main" id="{896FB8B0-AA73-4C4B-9ACD-D0FCEB2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623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EventBridge</a:t>
            </a:r>
          </a:p>
        </p:txBody>
      </p:sp>
      <p:sp>
        <p:nvSpPr>
          <p:cNvPr id="31" name="role-eventbridge">
            <a:extLst xmlns:a="http://schemas.openxmlformats.org/drawingml/2006/main">
              <a:ext uri="{FF2B5EF4-FFF2-40B4-BE49-F238E27FC236}">
                <a16:creationId xmlns:a16="http://schemas.microsoft.com/office/drawing/2014/main" id="{FB12D0FC-1B79-4B44-A53E-476B9A0D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95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完成事件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FB08DE-0C30-4EBE-844B-A240244B3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8e1e31c1b4415"/>
          <a:stretch xmlns:a="http://schemas.openxmlformats.org/drawingml/2006/main"/>
        </p:blipFill>
        <p:spPr>
          <a:xfrm xmlns:a="http://schemas.openxmlformats.org/drawingml/2006/main">
            <a:off x="7134225" y="3048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3" name="service-stepfunctions">
            <a:extLst xmlns:a="http://schemas.openxmlformats.org/drawingml/2006/main">
              <a:ext uri="{FF2B5EF4-FFF2-40B4-BE49-F238E27FC236}">
                <a16:creationId xmlns:a16="http://schemas.microsoft.com/office/drawing/2014/main" id="{10BC4DCA-1097-4BEF-B4AA-825AF7C6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Step Functions</a:t>
            </a:r>
          </a:p>
        </p:txBody>
      </p:sp>
      <p:sp>
        <p:nvSpPr>
          <p:cNvPr id="34" name="role-stepfunctions">
            <a:extLst xmlns:a="http://schemas.openxmlformats.org/drawingml/2006/main">
              <a:ext uri="{FF2B5EF4-FFF2-40B4-BE49-F238E27FC236}">
                <a16:creationId xmlns:a16="http://schemas.microsoft.com/office/drawing/2014/main" id="{4A40E37F-A41C-42AC-9E70-77CAE055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独立验收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AC16C-BF36-4A4D-B112-4B4A04C3C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0ba51ef664441"/>
          <a:stretch xmlns:a="http://schemas.openxmlformats.org/drawingml/2006/main"/>
        </p:blipFill>
        <p:spPr>
          <a:xfrm xmlns:a="http://schemas.openxmlformats.org/drawingml/2006/main">
            <a:off x="885825" y="4476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6" name="service-cloudwatch">
            <a:extLst xmlns:a="http://schemas.openxmlformats.org/drawingml/2006/main">
              <a:ext uri="{FF2B5EF4-FFF2-40B4-BE49-F238E27FC236}">
                <a16:creationId xmlns:a16="http://schemas.microsoft.com/office/drawing/2014/main" id="{6BD4EE8B-6748-4799-9A5D-984FFA68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911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CloudWatch</a:t>
            </a:r>
          </a:p>
        </p:txBody>
      </p:sp>
      <p:sp>
        <p:nvSpPr>
          <p:cNvPr id="37" name="role-cloudwatch">
            <a:extLst xmlns:a="http://schemas.openxmlformats.org/drawingml/2006/main">
              <a:ext uri="{FF2B5EF4-FFF2-40B4-BE49-F238E27FC236}">
                <a16:creationId xmlns:a16="http://schemas.microsoft.com/office/drawing/2014/main" id="{A305B1C6-3148-4EEF-BF42-E1EF6986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日志与告警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0B061E-6727-41EC-B6AC-0069FBF660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1771624bc4267"/>
          <a:stretch xmlns:a="http://schemas.openxmlformats.org/drawingml/2006/main"/>
        </p:blipFill>
        <p:spPr>
          <a:xfrm xmlns:a="http://schemas.openxmlformats.org/drawingml/2006/main">
            <a:off x="2447925" y="4476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9" name="service-polly">
            <a:extLst xmlns:a="http://schemas.openxmlformats.org/drawingml/2006/main">
              <a:ext uri="{FF2B5EF4-FFF2-40B4-BE49-F238E27FC236}">
                <a16:creationId xmlns:a16="http://schemas.microsoft.com/office/drawing/2014/main" id="{F1E3946A-5E9D-47D1-8C0B-CB00A75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911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Polly</a:t>
            </a:r>
          </a:p>
        </p:txBody>
      </p:sp>
      <p:sp>
        <p:nvSpPr>
          <p:cNvPr id="40" name="role-polly">
            <a:extLst xmlns:a="http://schemas.openxmlformats.org/drawingml/2006/main">
              <a:ext uri="{FF2B5EF4-FFF2-40B4-BE49-F238E27FC236}">
                <a16:creationId xmlns:a16="http://schemas.microsoft.com/office/drawing/2014/main" id="{BDC3EF5B-2449-4BFE-BDBF-DF363CF5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24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可选语音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297541-992D-4427-9CED-35A49A573D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304f37ed54865"/>
          <a:stretch xmlns:a="http://schemas.openxmlformats.org/drawingml/2006/main"/>
        </p:blipFill>
        <p:spPr>
          <a:xfrm xmlns:a="http://schemas.openxmlformats.org/drawingml/2006/main">
            <a:off x="4010025" y="44767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2" name="service-rekognition">
            <a:extLst xmlns:a="http://schemas.openxmlformats.org/drawingml/2006/main">
              <a:ext uri="{FF2B5EF4-FFF2-40B4-BE49-F238E27FC236}">
                <a16:creationId xmlns:a16="http://schemas.microsoft.com/office/drawing/2014/main" id="{4EB5A056-12E8-42FA-88CF-23321649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911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Rekognition</a:t>
            </a:r>
          </a:p>
        </p:txBody>
      </p:sp>
      <p:sp>
        <p:nvSpPr>
          <p:cNvPr id="43" name="role-rekognition">
            <a:extLst xmlns:a="http://schemas.openxmlformats.org/drawingml/2006/main">
              <a:ext uri="{FF2B5EF4-FFF2-40B4-BE49-F238E27FC236}">
                <a16:creationId xmlns:a16="http://schemas.microsoft.com/office/drawing/2014/main" id="{59A5D2EB-4C1A-4C36-AC84-CB20C637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575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可选标签</a:t>
            </a:r>
          </a:p>
        </p:txBody>
      </p:sp>
      <p:sp>
        <p:nvSpPr>
          <p:cNvPr id="44" name="standard-0">
            <a:extLst xmlns:a="http://schemas.openxmlformats.org/drawingml/2006/main">
              <a:ext uri="{FF2B5EF4-FFF2-40B4-BE49-F238E27FC236}">
                <a16:creationId xmlns:a16="http://schemas.microsoft.com/office/drawing/2014/main" id="{62D35187-B2E0-4586-B024-E19DA607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基础设施即代码</a:t>
            </a:r>
          </a:p>
        </p:txBody>
      </p:sp>
      <p:sp>
        <p:nvSpPr>
          <p:cNvPr id="45" name="standard-body-0">
            <a:extLst xmlns:a="http://schemas.openxmlformats.org/drawingml/2006/main">
              <a:ext uri="{FF2B5EF4-FFF2-40B4-BE49-F238E27FC236}">
                <a16:creationId xmlns:a16="http://schemas.microsoft.com/office/drawing/2014/main" id="{CF48A6F5-7CC7-47B0-9562-AB41F9F9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8122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CDK 定义主链资源</a:t>
            </a:r>
          </a:p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CloudFormation 执行部署</a:t>
            </a:r>
          </a:p>
        </p:txBody>
      </p:sp>
      <p:sp>
        <p:nvSpPr>
          <p:cNvPr id="46" name="standard-1">
            <a:extLst xmlns:a="http://schemas.openxmlformats.org/drawingml/2006/main">
              <a:ext uri="{FF2B5EF4-FFF2-40B4-BE49-F238E27FC236}">
                <a16:creationId xmlns:a16="http://schemas.microsoft.com/office/drawing/2014/main" id="{BAE1321D-CC1E-41D8-A343-DCC2CC2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身份与权限边界</a:t>
            </a:r>
          </a:p>
        </p:txBody>
      </p:sp>
      <p:sp>
        <p:nvSpPr>
          <p:cNvPr id="47" name="standard-body-1">
            <a:extLst xmlns:a="http://schemas.openxmlformats.org/drawingml/2006/main">
              <a:ext uri="{FF2B5EF4-FFF2-40B4-BE49-F238E27FC236}">
                <a16:creationId xmlns:a16="http://schemas.microsoft.com/office/drawing/2014/main" id="{9788517C-162C-4ACC-B755-1A413B7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STS 核验账号，IAM 角色分工</a:t>
            </a:r>
          </a:p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赛事权限边界约束执行角色</a:t>
            </a:r>
          </a:p>
        </p:txBody>
      </p:sp>
      <p:sp>
        <p:nvSpPr>
          <p:cNvPr id="48" name="standard-2">
            <a:extLst xmlns:a="http://schemas.openxmlformats.org/drawingml/2006/main">
              <a:ext uri="{FF2B5EF4-FFF2-40B4-BE49-F238E27FC236}">
                <a16:creationId xmlns:a16="http://schemas.microsoft.com/office/drawing/2014/main" id="{5351D412-3953-4200-8BCC-45F0D14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异步调度与访问控制</a:t>
            </a:r>
          </a:p>
        </p:txBody>
      </p:sp>
      <p:sp>
        <p:nvSpPr>
          <p:cNvPr id="49" name="standard-body-2">
            <a:extLst xmlns:a="http://schemas.openxmlformats.org/drawingml/2006/main">
              <a:ext uri="{FF2B5EF4-FFF2-40B4-BE49-F238E27FC236}">
                <a16:creationId xmlns:a16="http://schemas.microsoft.com/office/drawing/2014/main" id="{A1625874-1DE3-45F2-9016-BBA82AA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Worker 单并发，重试与死信</a:t>
            </a:r>
          </a:p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私有 S3 通过 OAC 交付</a:t>
            </a:r>
          </a:p>
        </p:txBody>
      </p:sp>
      <p:sp>
        <p:nvSpPr>
          <p:cNvPr id="50" name="standard-3">
            <a:extLst xmlns:a="http://schemas.openxmlformats.org/drawingml/2006/main">
              <a:ext uri="{FF2B5EF4-FFF2-40B4-BE49-F238E27FC236}">
                <a16:creationId xmlns:a16="http://schemas.microsoft.com/office/drawing/2014/main" id="{2AD2C6B6-787C-4225-B19C-2BD72053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875" b="1">
                <a:solidFill>
                  <a:srgbClr val="102C56"/>
                </a:solidFill>
                <a:latin typeface="Source Han Serif SC"/>
                <a:ea typeface="Source Han Serif SC"/>
                <a:cs typeface="Source Han Serif SC"/>
              </a:rPr>
              <a:t>独立验收与可观测</a:t>
            </a:r>
          </a:p>
        </p:txBody>
      </p:sp>
      <p:sp>
        <p:nvSpPr>
          <p:cNvPr id="51" name="standard-body-3">
            <a:extLst xmlns:a="http://schemas.openxmlformats.org/drawingml/2006/main">
              <a:ext uri="{FF2B5EF4-FFF2-40B4-BE49-F238E27FC236}">
                <a16:creationId xmlns:a16="http://schemas.microsoft.com/office/drawing/2014/main" id="{62739497-7727-414E-B79B-DF031F84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2927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Step Functions 核验成片</a:t>
            </a:r>
          </a:p>
          <a:p xmlns:a="http://schemas.openxmlformats.org/drawingml/2006/main">
            <a:pPr algn="l">
              <a:def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24364B"/>
                </a:solidFill>
                <a:latin typeface="Source Han Serif SC"/>
                <a:ea typeface="Source Han Serif SC"/>
                <a:cs typeface="Source Han Serif SC"/>
              </a:rPr>
              <a:t>CloudWatch 配置 6 项告警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C6A88F-05F1-4767-97E5-0EE68A91B2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c7a6983844d90"/>
          <a:stretch xmlns:a="http://schemas.openxmlformats.org/drawingml/2006/main"/>
        </p:blipFill>
        <p:spPr>
          <a:xfrm xmlns:a="http://schemas.openxmlformats.org/drawingml/2006/main">
            <a:off x="10896600" y="17526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EF2DCE-A277-4A7F-A906-ABEC409953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d66faab5e4b67"/>
          <a:stretch xmlns:a="http://schemas.openxmlformats.org/drawingml/2006/main"/>
        </p:blipFill>
        <p:spPr>
          <a:xfrm xmlns:a="http://schemas.openxmlformats.org/drawingml/2006/main">
            <a:off x="11296650" y="17526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FE8DED-5442-4C4B-947E-5A9235D3A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ca248c9004810"/>
          <a:stretch xmlns:a="http://schemas.openxmlformats.org/drawingml/2006/main"/>
        </p:blipFill>
        <p:spPr>
          <a:xfrm xmlns:a="http://schemas.openxmlformats.org/drawingml/2006/main">
            <a:off x="10896600" y="28384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EA36CD-2B91-4E1E-9A25-81388E14F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6ffdf18d1422b"/>
          <a:stretch xmlns:a="http://schemas.openxmlformats.org/drawingml/2006/main"/>
        </p:blipFill>
        <p:spPr>
          <a:xfrm xmlns:a="http://schemas.openxmlformats.org/drawingml/2006/main">
            <a:off x="11296650" y="2838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6" name="support-label">
            <a:extLst xmlns:a="http://schemas.openxmlformats.org/drawingml/2006/main">
              <a:ext uri="{FF2B5EF4-FFF2-40B4-BE49-F238E27FC236}">
                <a16:creationId xmlns:a16="http://schemas.microsoft.com/office/drawing/2014/main" id="{27157BF8-CEFF-4C82-A877-9DCC6C3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436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1650" b="0">
                <a:solidFill>
                  <a:srgbClr val="5B6D83"/>
                </a:solidFill>
                <a:latin typeface="Source Han Serif SC"/>
                <a:ea typeface="Source Han Serif SC"/>
                <a:cs typeface="Source Han Serif SC"/>
              </a:rPr>
              <a:t>工程支撑：CDK、CloudFormation、IAM、STS</a:t>
            </a:r>
          </a:p>
        </p:txBody>
      </p:sp>
    </p:spTree>
    <p:extLst>
      <p:ext uri="{BB962C8B-B14F-4D97-AF65-F5344CB8AC3E}">
        <p14:creationId xmlns:p14="http://schemas.microsoft.com/office/powerpoint/2010/main" val="1327933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2026-10-10T18:04:56.9070000Z</dcterms:created>
  <dcterms:modified xsi:type="dcterms:W3CDTF">2026-10-10T18:04:56.9070000Z</dcterms:modified>
</coreProperties>
</file>